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228600"/>
            <a:ext cx="2743200" cy="2743200"/>
          </a:xfrm>
          <a:prstGeom prst="rect">
            <a:avLst/>
          </a:prstGeom>
          <a:solidFill>
            <a:srgbClr val="76B900">
              <a:alpha val="0"/>
            </a:srgbClr>
          </a:solidFill>
          <a:ln w="5080">
            <a:solidFill>
              <a:srgbClr val="76B90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"/>
            <a:ext cx="2011680" cy="2011680"/>
          </a:xfrm>
          <a:prstGeom prst="rect">
            <a:avLst/>
          </a:prstGeom>
          <a:solidFill>
            <a:srgbClr val="76B900">
              <a:alpha val="0"/>
            </a:srgbClr>
          </a:solidFill>
          <a:ln w="5080">
            <a:solidFill>
              <a:srgbClr val="76B900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411480"/>
            <a:ext cx="1371600" cy="1371600"/>
          </a:xfrm>
          <a:prstGeom prst="rect">
            <a:avLst/>
          </a:prstGeom>
          <a:solidFill>
            <a:srgbClr val="76B900">
              <a:alpha val="0"/>
            </a:srgbClr>
          </a:solidFill>
          <a:ln w="508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502920"/>
            <a:ext cx="731520" cy="731520"/>
          </a:xfrm>
          <a:prstGeom prst="rect">
            <a:avLst/>
          </a:prstGeom>
          <a:solidFill>
            <a:srgbClr val="76B900">
              <a:alpha val="0"/>
            </a:srgbClr>
          </a:solidFill>
          <a:ln w="5080">
            <a:solidFill>
              <a:srgbClr val="76B9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1463040"/>
            <a:ext cx="164592" cy="164592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78992"/>
            <a:ext cx="320040" cy="2286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058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IRAKLI KALANDADZE · AI RESEARCH &amp; STRATEGY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15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The Law.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5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Company Must Know.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are moving fast. Companies that ignore AI law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fines, lawsuits, and shutdowns. This deck gives you</a:t>
            </a:r>
            <a:endParaRPr lang="en-US" sz="11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landscape — clearly, without the jargon.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858768"/>
            <a:ext cx="1920240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587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AI Act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3858768"/>
            <a:ext cx="1920240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8587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Copyright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3858768"/>
            <a:ext cx="1920240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85876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Liability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1920240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696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GDPR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0" y="4169664"/>
            <a:ext cx="1920240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1696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Ethics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4169664"/>
            <a:ext cx="1920240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1696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 Risks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4517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slides  ·  C-suite Edition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30198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301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</a:t>
            </a:r>
            <a:pPr indent="0" marL="0">
              <a:buNone/>
            </a:pPr>
            <a:r>
              <a:rPr lang="en-US" sz="3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Now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 longer a technology question. It's a legal, financial, and reputational one.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4096512" cy="1371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096512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739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$35M+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fine under EU AI Act for a single violation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6008" y="1664208"/>
            <a:ext cx="4096512" cy="1371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1664208"/>
            <a:ext cx="4096512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7739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18888" y="23774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high-risk provisions take full effect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172968"/>
            <a:ext cx="4096512" cy="1371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172968"/>
            <a:ext cx="4096512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826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Fortune 500s now use AI in core operations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6008" y="3172968"/>
            <a:ext cx="4096512" cy="1371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008" y="3172968"/>
            <a:ext cx="4096512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2826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18888" y="3886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global AI law frameworks — yet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219810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2198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Landscape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jurisdictions. Three approaches. One company caught in the middle.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278892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773936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773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STRICTEST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8056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" y="2414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AI Act (2024)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enforcement 2025–2027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" y="2926080"/>
            <a:ext cx="246888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999232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 certain AI uses outright. Classifies AI by risk level. Heavy compliance burden for high-risk AI.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64408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1664208"/>
            <a:ext cx="2788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74136" y="1773936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773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SECTOR-BASED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92424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92424" y="2414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Executive Orders + FTC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92424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federal law yet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92424" y="2926080"/>
            <a:ext cx="246888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2999232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rules (finance, healthcare, employment). States moving faster than federal government.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08776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1664208"/>
            <a:ext cx="2788920" cy="36576"/>
          </a:xfrm>
          <a:prstGeom prst="rect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8504" y="1773936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82AAFF">
              <a:alpha val="12000"/>
            </a:srgbClr>
          </a:solidFill>
          <a:ln w="6350">
            <a:solidFill>
              <a:srgbClr val="82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1773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PRESCRIPTIVE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336792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36792" y="2414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AI-specific rules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36792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enforcement since 2023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36792" y="2926080"/>
            <a:ext cx="246888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2999232"/>
            <a:ext cx="2560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fakes, generative AI, and algorithmic recommendations all specifically regulated.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667866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6678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REGULATION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Pyramid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system your company uses falls into one of four categories. Know yours.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8503920" cy="67665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5720" cy="67665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883664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UNACCEPTABLE RISK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31720" y="17373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outright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99339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scoring, real-time biometric surveillance in public, subliminal manipulation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2414016"/>
            <a:ext cx="6858000" cy="67665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414016"/>
            <a:ext cx="45720" cy="676656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2633472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F78C6C">
              <a:alpha val="12000"/>
            </a:srgbClr>
          </a:solidFill>
          <a:ln w="6350">
            <a:solidFill>
              <a:srgbClr val="F78C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6334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RISK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017520" y="24871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€30M or 6% of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743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AI, credit scoring, medical devices, critical infrastructure, border control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3163824"/>
            <a:ext cx="5303520" cy="67665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3163824"/>
            <a:ext cx="45720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48256" y="3383280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LIMITED RISK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931920" y="32369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obligations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34930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deepfake tools, emotion recognition — must disclose AI interaction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0" y="3913632"/>
            <a:ext cx="3657600" cy="67665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3913632"/>
            <a:ext cx="45720" cy="67665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1216" y="4133088"/>
            <a:ext cx="1737360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7121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 RISK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54880" y="3986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obligations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2428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video games, spam filters, most productivity tools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757477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75747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COPYRIGHT &amp; IP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open legal questions that will reshape how companies use AI-generated content.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773936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UNSETTLED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48056" y="20756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AI output?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" y="2633472"/>
            <a:ext cx="246888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2697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Copyright Office: AI-generated content without human creative input is NOT copyrightable. Companies relying solely on AI content have weaker IP positions.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4023360"/>
            <a:ext cx="2788920" cy="658368"/>
          </a:xfrm>
          <a:prstGeom prst="rect">
            <a:avLst/>
          </a:prstGeom>
          <a:solidFill>
            <a:srgbClr val="76B900">
              <a:alpha val="7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40599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→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29768" y="42245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creative direction in every AI-assisted work.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74136" y="1773936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LITIGATION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92424" y="20756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AI trained on stolen data?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92424" y="2633472"/>
            <a:ext cx="246888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2424" y="2697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lawsuits against OpenAI, Stability AI, GitHub Copilot. Training on copyrighted data may be infringement. Outcome sets precedent for all LLMs.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64408" y="4023360"/>
            <a:ext cx="2788920" cy="658368"/>
          </a:xfrm>
          <a:prstGeom prst="rect">
            <a:avLst/>
          </a:prstGeom>
          <a:solidFill>
            <a:srgbClr val="F59E0B">
              <a:alpha val="7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40599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→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74136" y="42245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vendor's training data provenance before deploying.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08776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8504" y="1773936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F78C6C">
              <a:alpha val="12000"/>
            </a:srgbClr>
          </a:solidFill>
          <a:ln w="6350">
            <a:solidFill>
              <a:srgbClr val="F78C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17739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BY CASE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336792" y="20756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AI output infringe existing IP?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36792" y="2633472"/>
            <a:ext cx="2468880" cy="9144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2697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reproduces protected expression, your company may be liable even unintentionally. Screen AI outputs for similarity in high-stakes use cases.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08776" y="4023360"/>
            <a:ext cx="2788920" cy="658368"/>
          </a:xfrm>
          <a:prstGeom prst="rect">
            <a:avLst/>
          </a:prstGeom>
          <a:solidFill>
            <a:srgbClr val="F78C6C">
              <a:alpha val="7000"/>
            </a:srgbClr>
          </a:solidFill>
          <a:ln w="6350">
            <a:solidFill>
              <a:srgbClr val="F78C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40599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→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318504" y="422452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of AI outputs before publication or product use.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309421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3094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Gets It Wrong — </a:t>
            </a:r>
            <a:pPr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liability is still forming. But "the AI made a mistake" is not a legal defense.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LIABILITY CHAIN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4206240" cy="7772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65960"/>
            <a:ext cx="45720" cy="77724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Liable if product has defects or was negligently designed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28072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206240" cy="7772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880360"/>
            <a:ext cx="45720" cy="777240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44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Deployer (You)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Liable if deployed for wrong use case or without proper oversight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3721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3794760"/>
            <a:ext cx="4206240" cy="7772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94760"/>
            <a:ext cx="457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Liable if misused knowingly or relied on AI output without verification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16642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CASES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1965960"/>
            <a:ext cx="3977640" cy="7772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965960"/>
            <a:ext cx="397764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029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Canada Chatbot (2024)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2286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Canada liable for incorrect refund policy given by AI chatbot. Court ruled company responsible for AI statements.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880360"/>
            <a:ext cx="3977640" cy="7772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880360"/>
            <a:ext cx="3977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944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DoNotPay Lawyer Bot (2023)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3200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"Robot lawyer" settled FTC charges for claiming AI could handle legal work it could not. $193K fine.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794760"/>
            <a:ext cx="3977640" cy="77724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794760"/>
            <a:ext cx="3977640" cy="36576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858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Data Leak (2023)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4114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pasted confidential code into ChatGPT. Samsung banned internal AI use. Training data exposure risk.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578254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5782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PRIVACY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+ AI =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Exposure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process vast personal data. GDPR gives individuals rights that conflict with how most AI works.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5720" cy="14173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7922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7922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48056" y="2084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Explanation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23957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can demand explanation for automated decisions. Black-box AI may be illegal under GDPR Article 22.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664208"/>
            <a:ext cx="45720" cy="1417320"/>
          </a:xfrm>
          <a:prstGeom prst="rect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17922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82AAFF">
              <a:alpha val="12000"/>
            </a:srgbClr>
          </a:solidFill>
          <a:ln w="6350">
            <a:solidFill>
              <a:srgbClr val="82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7922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392424" y="2084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2424" y="23957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often need massive training data. Using more personal data than necessary violates GDPR core principles.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08776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664208"/>
            <a:ext cx="45720" cy="1417320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17922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78C6C">
              <a:alpha val="12000"/>
            </a:srgbClr>
          </a:solidFill>
          <a:ln w="6350">
            <a:solidFill>
              <a:srgbClr val="F78C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7922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336792" y="2084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6792" y="23957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"Forget me" requests are nearly impossible in trained models. No clear technical solution exists yet.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00400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200400"/>
            <a:ext cx="457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" y="332841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3284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48056" y="36210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" y="3931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for one purpose cannot train AI for a different one — even internally.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3200400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3200400"/>
            <a:ext cx="45720" cy="14173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2424" y="332841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C792EA">
              <a:alpha val="12000"/>
            </a:srgbClr>
          </a:solidFill>
          <a:ln w="6350">
            <a:solidFill>
              <a:srgbClr val="C792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33284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XFER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392424" y="36210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Transfers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92424" y="3931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EU personal data to US-based AI vendors requires specific safeguards (SCCs, adequacy decisions).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08776" y="3200400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08776" y="3200400"/>
            <a:ext cx="45720" cy="1417320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6792" y="332841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33284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DPA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336792" y="36210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Enforcement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36792" y="3931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blocked ChatGPT. Ireland fined Meta €1.2B. DPAs are actively targeting AI data practices.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936699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936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ETHICS &amp; BIAS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Isn't Just Ethical — </a:t>
            </a:r>
            <a:pPr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Legal Risk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AI outputs can constitute discrimination under existing employment, credit, and housing law.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4389120" cy="67665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38912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556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Hiring Tool (2018)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historical data systematically downgraded women's CVs. Project scrapped after bias found.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414016"/>
            <a:ext cx="4389120" cy="67665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414016"/>
            <a:ext cx="43891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054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Card (2019)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applicants received up to 20× higher credit limits than women with identical financials. Goldman Sachs investigated.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163824"/>
            <a:ext cx="4389120" cy="67665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163824"/>
            <a:ext cx="4389120" cy="36576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Allocation (2019)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511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used healthcare cost as proxy for health needs — systematically underserving Black patients.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4389120" cy="67665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913632"/>
            <a:ext cx="4389120" cy="36576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Recidivism AI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2611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risk-scoring AI twice as likely to falsely flag Black defendants as high risk. Used in US courts.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REDUCE YOUR EXPOSURE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0" y="1920240"/>
            <a:ext cx="3749040" cy="6400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920240"/>
            <a:ext cx="45720" cy="6400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039112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0391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50992" y="19019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before deploying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50992" y="217627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bias testing across protected characteristics before any AI system goes live.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2633472"/>
            <a:ext cx="3749040" cy="6400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2633472"/>
            <a:ext cx="45720" cy="6400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2752344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752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50992" y="26151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50992" y="288950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records of training data, model decisions, and fairness assessments.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3346704"/>
            <a:ext cx="3749040" cy="6400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3346704"/>
            <a:ext cx="45720" cy="6400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66360" y="3465576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4655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50992" y="332841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50992" y="360273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decisions (hiring, credit, criminal) must have meaningful human review.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4059936"/>
            <a:ext cx="3749040" cy="6400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059936"/>
            <a:ext cx="45720" cy="64008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66360" y="4178808"/>
            <a:ext cx="347472" cy="201168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41788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650992" y="404164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continuously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50992" y="43159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can emerge post-deployment. Ongoing monitoring is not optional.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88643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886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 RISKS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Legal Risks </a:t>
            </a:r>
            <a:pPr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Faces Today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hypothetical. Each has real precedents or active regulatory guidance.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4160520" cy="612648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16052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7373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infringement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85032" y="184708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8470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709160" y="1664208"/>
            <a:ext cx="4160520" cy="612648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664208"/>
            <a:ext cx="416052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7373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7373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AI deployment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74152" y="184708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18470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20040" y="2350008"/>
            <a:ext cx="4160520" cy="612648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350008"/>
            <a:ext cx="416052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231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4231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decision liability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85032" y="253288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2532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709160" y="2350008"/>
            <a:ext cx="4160520" cy="612648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350008"/>
            <a:ext cx="416052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4231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4231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violations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74152" y="253288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74152" y="25328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20040" y="3035808"/>
            <a:ext cx="4160520" cy="612648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035808"/>
            <a:ext cx="4160520" cy="36576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1089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3108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Discriminatory AI outputs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85032" y="321868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F78C6C">
              <a:alpha val="12000"/>
            </a:srgbClr>
          </a:solidFill>
          <a:ln w="6350">
            <a:solidFill>
              <a:srgbClr val="F78C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85032" y="32186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709160" y="3035808"/>
            <a:ext cx="4160520" cy="612648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035808"/>
            <a:ext cx="4160520" cy="36576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1089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3108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ownership disputes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74152" y="321868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F78C6C">
              <a:alpha val="12000"/>
            </a:srgbClr>
          </a:solidFill>
          <a:ln w="6350">
            <a:solidFill>
              <a:srgbClr val="F78C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74152" y="32186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20040" y="3721608"/>
            <a:ext cx="4160520" cy="612648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3721608"/>
            <a:ext cx="4160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37947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8680" y="37947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contract gaps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85032" y="390448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85032" y="39044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709160" y="3721608"/>
            <a:ext cx="4160520" cy="612648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3721608"/>
            <a:ext cx="416052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379476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57800" y="37947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AI misuse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074152" y="3904488"/>
            <a:ext cx="685800" cy="228600"/>
          </a:xfrm>
          <a:prstGeom prst="roundRect">
            <a:avLst>
              <a:gd name="adj" fmla="val 48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74152" y="39044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88643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886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 RISK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Vendor's Problem </a:t>
            </a:r>
            <a:pPr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deploy a third-party AI tool, you inherit legal exposure. What to check before signing.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4389120" cy="310896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389120" cy="274320"/>
          </a:xfrm>
          <a:prstGeom prst="rect">
            <a:avLst/>
          </a:prstGeom>
          <a:solidFill>
            <a:srgbClr val="1D1D1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75564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175564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1755648"/>
            <a:ext cx="109728" cy="109728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7373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vendor_due_diligence_checklist.txt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632" y="201168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HANDLING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223570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Where is data stored? (EU/US/other)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" y="2459736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Does vendor train on your inputs?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2683764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Data retention period defined?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2907792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GDPR data processing agreement?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313182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" y="335584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INTELLECTUAL PROPERTY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" y="3579876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Who owns the AI outputs?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" y="3803904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Training data licenses disclosed?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" y="4027932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E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Indemnification for IP claims?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" y="4251960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4475988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LIABILITY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" y="4700016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Cap on vendor liability defined?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" y="4924044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SLA for availability/accuracy?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" y="5148072"/>
            <a:ext cx="4133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 Incident notification timeline?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CLAUSES TO DEMAND IN EVERY AI CONTRACT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29200" y="1920240"/>
            <a:ext cx="374904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920240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9568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on your data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0" y="2176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must not use your inputs to train or improve their models.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2487168"/>
            <a:ext cx="374904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2487168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2523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indemnification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2743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covers you if their AI output infringes third-party IP.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0" y="3054096"/>
            <a:ext cx="374904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3054096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30906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rights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12080" y="3310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audit vendor's AI practices and data handling annually.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0" y="3621024"/>
            <a:ext cx="374904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621024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3657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commitment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12080" y="38770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must provide explanations for AI decisions on request.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29200" y="4187952"/>
            <a:ext cx="3749040" cy="49377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4187952"/>
            <a:ext cx="45720" cy="4937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42245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deletion on termination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12080" y="4443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data destroyed within 30 days of contract end.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578254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5782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 RULES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</a:t>
            </a:r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Obligations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law is just the baseline. Your industry likely has additional requirements.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2788920" cy="36576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773936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77393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3000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" y="2066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FDA guidance + HIPAA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devices need FDA clearance. Patient data in AI = HIPAA exposure. Clinical decision AI faces highest scrutiny.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1664208"/>
            <a:ext cx="278892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2424" y="1773936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177393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087368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92424" y="2066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FTC + CFPB guidance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92424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AI must not discriminate (ECOA). Explainability required for adverse credit decisions.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8776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1664208"/>
            <a:ext cx="2788920" cy="36576"/>
          </a:xfrm>
          <a:prstGeom prst="rect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6792" y="1773936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82AAFF">
              <a:alpha val="12000"/>
            </a:srgbClr>
          </a:solidFill>
          <a:ln w="6350">
            <a:solidFill>
              <a:srgbClr val="82A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77393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031736" y="17739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36792" y="2066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EEOC guidance (2023)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36792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AI must be validated for adverse impact. NYC law requires annual bias audits.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1868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18688"/>
            <a:ext cx="2788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" y="3328416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" y="33284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143000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056" y="3621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FERPA + State laws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8056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used in AI must comply with FERPA. Several states ban facial recognition in schools.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64408" y="321868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3218688"/>
            <a:ext cx="2788920" cy="36576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2424" y="3328416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C792EA">
              <a:alpha val="12000"/>
            </a:srgbClr>
          </a:solidFill>
          <a:ln w="6350">
            <a:solidFill>
              <a:srgbClr val="C792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92424" y="33284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087368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92424" y="3621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AI Act + national laws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92424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AI faces strictest rules. Real-time biometric surveillance largely banned in EU public spaces.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08776" y="321868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08776" y="3218688"/>
            <a:ext cx="2788920" cy="36576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6792" y="3328416"/>
            <a:ext cx="594360" cy="219456"/>
          </a:xfrm>
          <a:prstGeom prst="roundRect">
            <a:avLst>
              <a:gd name="adj" fmla="val 50000"/>
            </a:avLst>
          </a:prstGeom>
          <a:solidFill>
            <a:srgbClr val="F78C6C">
              <a:alpha val="12000"/>
            </a:srgbClr>
          </a:solidFill>
          <a:ln w="6350">
            <a:solidFill>
              <a:srgbClr val="F78C6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32841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031736" y="33284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Ads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36792" y="3621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FTC guidelines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336792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must be disclosed in advertising. Deepfakes in political ads face growing state-level bans.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399032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</a:t>
            </a:r>
            <a:pPr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Framework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survive the AI regulatory wave won't be those that react. They'll be those that prepared.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5720" cy="14173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792224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792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48056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Inventory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" y="23957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every AI system in use. Know what each does, what data it uses, and what decisions it influences.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664208"/>
            <a:ext cx="45720" cy="1417320"/>
          </a:xfrm>
          <a:prstGeom prst="rect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1792224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82AAFF">
              <a:alpha val="12000"/>
            </a:srgbClr>
          </a:solidFill>
          <a:ln w="6350">
            <a:solidFill>
              <a:srgbClr val="82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792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92424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92424" y="23957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EU AI Act risk pyramid internally. High-risk systems need documentation, testing, and oversight protocols.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08776" y="1664208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664208"/>
            <a:ext cx="45720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1792224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7922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36792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Contracts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6792" y="239572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internal AI acceptable use policy. Update vendor contracts. Define what employees may and may not do with AI.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00400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200400"/>
            <a:ext cx="45720" cy="1417320"/>
          </a:xfrm>
          <a:prstGeom prst="rect">
            <a:avLst/>
          </a:prstGeom>
          <a:solidFill>
            <a:srgbClr val="F78C6C"/>
          </a:solidFill>
          <a:ln w="12700">
            <a:solidFill>
              <a:srgbClr val="F78C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" y="3328416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78C6C">
              <a:alpha val="12000"/>
            </a:srgbClr>
          </a:solidFill>
          <a:ln w="6350">
            <a:solidFill>
              <a:srgbClr val="F78C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328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8056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Audit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" y="3931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behavior changes over time. Regular audits for bias, accuracy, and compliance. Incident response plan must cover AI.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3200400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64408" y="3200400"/>
            <a:ext cx="45720" cy="1417320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2424" y="3328416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C792EA">
              <a:alpha val="12000"/>
            </a:srgbClr>
          </a:solidFill>
          <a:ln w="6350">
            <a:solidFill>
              <a:srgbClr val="C792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92424" y="3328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92424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92424" y="3931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HR, and technical teams need different AI literacy. Executives need risk briefings. Developers need bias training.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08776" y="3200400"/>
            <a:ext cx="2788920" cy="14173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08776" y="3200400"/>
            <a:ext cx="45720" cy="1417320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6792" y="3328416"/>
            <a:ext cx="365760" cy="219456"/>
          </a:xfrm>
          <a:prstGeom prst="roundRect">
            <a:avLst>
              <a:gd name="adj" fmla="val 50000"/>
            </a:avLst>
          </a:prstGeom>
          <a:solidFill>
            <a:srgbClr val="FF5F57">
              <a:alpha val="12000"/>
            </a:srgbClr>
          </a:solidFill>
          <a:ln w="6350">
            <a:solidFill>
              <a:srgbClr val="FF5F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3328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5F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336792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36792" y="3931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named AI responsible officer. Clear escalation path when AI causes harm. Not optional — it's governance.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88643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8864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PLAN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pPr indent="0" marL="0">
              <a:buNone/>
            </a:pPr>
            <a:r>
              <a:rPr lang="en-US" sz="27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Legal AI Action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solve everything at once. Start here.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278892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" y="1773936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7739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8056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1–30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91440" cy="914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323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inventory — list every AI tool in use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044952"/>
            <a:ext cx="91440" cy="914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900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by EU AI Act risk tier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602736"/>
            <a:ext cx="91440" cy="914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47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systems needing immediate action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91440" cy="9144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1056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vendor contracts for AI-specific gaps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64408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1664208"/>
            <a:ext cx="2788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92424" y="1773936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17739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92424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31–60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47288" y="24871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4323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 renegotiate AI vendor contracts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47288" y="30449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9900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internal AI acceptable use policy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47288" y="36027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3547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AI responsible officer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47288" y="4160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41056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bias audit on hiring and customer-facing AI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08776" y="1664208"/>
            <a:ext cx="2788920" cy="301752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1664208"/>
            <a:ext cx="2788920" cy="36576"/>
          </a:xfrm>
          <a:prstGeom prst="rect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1773936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82AAFF">
              <a:alpha val="12000"/>
            </a:srgbClr>
          </a:solidFill>
          <a:ln w="6350">
            <a:solidFill>
              <a:srgbClr val="82AA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17739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36792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61–90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91656" y="2487168"/>
            <a:ext cx="91440" cy="91440"/>
          </a:xfrm>
          <a:prstGeom prst="ellipse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4536" y="24323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monitoring for high-risk AI systems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91656" y="3044952"/>
            <a:ext cx="91440" cy="91440"/>
          </a:xfrm>
          <a:prstGeom prst="ellipse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29900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legal, HR, and tech teams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91656" y="3602736"/>
            <a:ext cx="91440" cy="91440"/>
          </a:xfrm>
          <a:prstGeom prst="ellipse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74536" y="3547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AI incident response playbook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91656" y="4160520"/>
            <a:ext cx="91440" cy="91440"/>
          </a:xfrm>
          <a:prstGeom prst="ellipse">
            <a:avLst/>
          </a:prstGeom>
          <a:solidFill>
            <a:srgbClr val="82AAFF"/>
          </a:solidFill>
          <a:ln w="12700">
            <a:solidFill>
              <a:srgbClr val="82AA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41056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decisions for GDPR Article 22 compliance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399032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399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Principles for </a:t>
            </a:r>
            <a:pPr indent="0" marL="0">
              <a:buNone/>
            </a:pPr>
            <a:r>
              <a:rPr lang="en-US" sz="28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AI-Legal Resilience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apply regardless of jurisdiction, industry, or AI maturity.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8503920" cy="53949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64208"/>
            <a:ext cx="45720" cy="53949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87552" y="1682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deploy: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11880" y="1682496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deploy AI you haven't assessed. Unknown systems create unknown liability. An AI inventory is non-negotiable.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8503920" cy="53949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67712"/>
            <a:ext cx="45720" cy="53949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86584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865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87552" y="2286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everything: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11880" y="228600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explain what your AI does, why it decided what it decided, and on what data — you have no legal defense.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71216"/>
            <a:ext cx="8503920" cy="53949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71216"/>
            <a:ext cx="45720" cy="53949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90088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900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87552" y="2889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is not optional: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11880" y="288950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decision affecting a person — employment, credit, health, legal — a human must be in the loop.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8503920" cy="53949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74720"/>
            <a:ext cx="45720" cy="53949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93592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935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87552" y="34930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vendor's risk is your risk: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11880" y="3493008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AI contracts. Negotiate. Demand IP indemnification, data deletion rights, and no training on your data.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078224"/>
            <a:ext cx="8503920" cy="53949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078224"/>
            <a:ext cx="45720" cy="53949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97096"/>
            <a:ext cx="384048" cy="219456"/>
          </a:xfrm>
          <a:prstGeom prst="roundRect">
            <a:avLst>
              <a:gd name="adj" fmla="val 50000"/>
            </a:avLst>
          </a:prstGeom>
          <a:solidFill>
            <a:srgbClr val="76B900">
              <a:alpha val="12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9709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87552" y="40965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a competitive edge: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11880" y="4096512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build AI governance now will move faster when regulations tighten. Compliance is advantage, not burden.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130198" cy="246888"/>
          </a:xfrm>
          <a:prstGeom prst="roundRect">
            <a:avLst>
              <a:gd name="adj" fmla="val 48148"/>
            </a:avLst>
          </a:prstGeom>
          <a:solidFill>
            <a:srgbClr val="1D1D1D"/>
          </a:solidFill>
          <a:ln w="9525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301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</a:t>
            </a:r>
            <a:pPr indent="0" marL="0">
              <a:buNone/>
            </a:pPr>
            <a:r>
              <a:rPr lang="en-US" sz="32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57400" cy="8686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148132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domains covered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2057400" cy="8686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44475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148132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of insight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2057400" cy="8686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4475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69280" y="148132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build a framework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2057400" cy="86868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44475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863840" y="148132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preparation vs millions in fines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4069080" cy="1005840"/>
          </a:xfrm>
          <a:prstGeom prst="rect">
            <a:avLst/>
          </a:prstGeom>
          <a:solidFill>
            <a:srgbClr val="76B900">
              <a:alpha val="7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50592"/>
            <a:ext cx="406908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is real and accelerating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28529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is in effect. US is moving sector by sector. Doing nothing is a decision with consequences.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6008" y="2450592"/>
            <a:ext cx="4069080" cy="1005840"/>
          </a:xfrm>
          <a:prstGeom prst="rect">
            <a:avLst/>
          </a:prstGeom>
          <a:solidFill>
            <a:srgbClr val="76B900">
              <a:alpha val="7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36008" y="2450592"/>
            <a:ext cx="406908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follows deployment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73168" y="28529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build AI to be liable. Using AI tools in your business makes you a deployer — with legal obligations.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529584"/>
            <a:ext cx="4069080" cy="1005840"/>
          </a:xfrm>
          <a:prstGeom prst="rect">
            <a:avLst/>
          </a:prstGeom>
          <a:solidFill>
            <a:srgbClr val="76B900">
              <a:alpha val="7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529584"/>
            <a:ext cx="406908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= competitive advantage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AI governance frameworks move faster because they've removed uncertainty. Don't wait for the lawsuit.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36008" y="3529584"/>
            <a:ext cx="4069080" cy="1005840"/>
          </a:xfrm>
          <a:prstGeom prst="rect">
            <a:avLst/>
          </a:prstGeom>
          <a:solidFill>
            <a:srgbClr val="76B900">
              <a:alpha val="7000"/>
            </a:srgbClr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3529584"/>
            <a:ext cx="4069080" cy="36576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to answer this week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73168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What AI do we use? (2) Who owns our AI outputs? (3) What do our vendor contracts say about data?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85750"/>
            <a:ext cx="4572000" cy="4572000"/>
          </a:xfrm>
          <a:prstGeom prst="ellipse">
            <a:avLst/>
          </a:prstGeom>
          <a:solidFill>
            <a:srgbClr val="76B900">
              <a:alpha val="0"/>
            </a:srgbClr>
          </a:solidFill>
          <a:ln w="6350">
            <a:solidFill>
              <a:srgbClr val="76B900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1047750"/>
            <a:ext cx="3048000" cy="3048000"/>
          </a:xfrm>
          <a:prstGeom prst="ellipse">
            <a:avLst/>
          </a:prstGeom>
          <a:solidFill>
            <a:srgbClr val="76B900">
              <a:alpha val="0"/>
            </a:srgbClr>
          </a:solidFill>
          <a:ln w="6350">
            <a:solidFill>
              <a:srgbClr val="76B90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14750" y="1714500"/>
            <a:ext cx="1714500" cy="1714500"/>
          </a:xfrm>
          <a:prstGeom prst="ellipse">
            <a:avLst/>
          </a:prstGeom>
          <a:solidFill>
            <a:srgbClr val="76B900">
              <a:alpha val="0"/>
            </a:srgbClr>
          </a:solidFill>
          <a:ln w="6350">
            <a:solidFill>
              <a:srgbClr val="76B900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98848" y="2523744"/>
            <a:ext cx="146304" cy="146304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IRAKLI KALANDADZE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-50" kern="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doesn't wait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-50" kern="0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AI strategy.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828800" y="3108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AI legal review today.</a:t>
            </a:r>
            <a:endParaRPr lang="en-US" sz="12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after the first lawsuit.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3950208"/>
            <a:ext cx="4023360" cy="320040"/>
          </a:xfrm>
          <a:prstGeom prst="roundRect">
            <a:avLst>
              <a:gd name="adj" fmla="val 48571"/>
            </a:avLst>
          </a:prstGeom>
          <a:solidFill>
            <a:srgbClr val="1D1D1D"/>
          </a:solidFill>
          <a:ln w="635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950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iridescent-tapioca-21ac08.netlify.app  ·  irakli.kalandadze0@gmail.com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[IK]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THE LAW — WHAT EVERY COMPANY MUST KNOW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The Law — What Every Company Must Know</dc:title>
  <dc:subject>PptxGenJS Presentation</dc:subject>
  <dc:creator>Irakli Kalandadze</dc:creator>
  <cp:lastModifiedBy>Irakli Kalandadze</cp:lastModifiedBy>
  <cp:revision>1</cp:revision>
  <dcterms:created xsi:type="dcterms:W3CDTF">2026-03-21T18:32:39Z</dcterms:created>
  <dcterms:modified xsi:type="dcterms:W3CDTF">2026-03-21T18:32:39Z</dcterms:modified>
</cp:coreProperties>
</file>