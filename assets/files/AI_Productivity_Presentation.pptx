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solidFill>
            <a:srgbClr val="050A05">
              <a:alpha val="70000"/>
            </a:srgbClr>
          </a:solidFill>
          <a:ln w="12700">
            <a:solidFill>
              <a:srgbClr val="1A7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97280"/>
            <a:ext cx="54864" cy="292608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34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OPTIMIZING WORK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1901952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AI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286000" y="2633472"/>
            <a:ext cx="4572000" cy="27432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72491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Applications for Streamlined Productivity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1821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Exploring the most popular AI tools and their specific applications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EDITION  •  AI PRODUCTIVITY GUIDE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0" y="5129784"/>
            <a:ext cx="9144000" cy="13716"/>
          </a:xfrm>
          <a:prstGeom prst="rect">
            <a:avLst/>
          </a:prstGeom>
          <a:solidFill>
            <a:srgbClr val="39FF1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AI &amp; WHY DOES IT MATTER?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1A7A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3291840"/>
          </a:xfrm>
          <a:prstGeom prst="rect">
            <a:avLst/>
          </a:prstGeom>
          <a:solidFill>
            <a:srgbClr val="0D1A0D"/>
          </a:solidFill>
          <a:ln w="12700">
            <a:solidFill>
              <a:srgbClr val="1A7A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2651760" cy="4572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 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enables machines to simulate human reasoning — learning from data, recognizing patterns, and making decisions autonomously.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51760" cy="3291840"/>
          </a:xfrm>
          <a:prstGeom prst="rect">
            <a:avLst/>
          </a:prstGeom>
          <a:solidFill>
            <a:srgbClr val="0D1A0D"/>
          </a:solidFill>
          <a:ln w="12700">
            <a:solidFill>
              <a:srgbClr val="1A7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14400"/>
            <a:ext cx="2651760" cy="4572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THE SHIFT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moved from research labs to everyday tools. In 2026, over 80% of knowledge workers use at least one AI-powered application daily.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651760" cy="3291840"/>
          </a:xfrm>
          <a:prstGeom prst="rect">
            <a:avLst/>
          </a:prstGeom>
          <a:solidFill>
            <a:srgbClr val="0D1A0D"/>
          </a:solidFill>
          <a:ln w="12700">
            <a:solidFill>
              <a:srgbClr val="1A7A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914400"/>
            <a:ext cx="2651760" cy="4572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THE IMPACT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4630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show AI tools reduce routine task time by up to 40%, freeing professionals to focus on strategic, creative, and high-value work.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407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14"/>
                </a:solidFill>
              </a:rPr>
              <a:t>⚡  KEY STAT: 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440740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Global Institute estimates AI could automate up to 30% of work activities in 60% of current occupations by 2030.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129784"/>
            <a:ext cx="9144000" cy="13716"/>
          </a:xfrm>
          <a:prstGeom prst="rect">
            <a:avLst/>
          </a:prstGeom>
          <a:solidFill>
            <a:srgbClr val="39FF1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AI ENHANCES PRODUCTIVITY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1A7A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0D1A0D"/>
          </a:solidFill>
          <a:ln w="12700">
            <a:solidFill>
              <a:srgbClr val="1A7A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5720" cy="18288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Saved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3657600" cy="9144"/>
          </a:xfrm>
          <a:prstGeom prst="rect">
            <a:avLst/>
          </a:prstGeom>
          <a:solidFill>
            <a:srgbClr val="1A7A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0312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repetitive tasks like data entry, scheduling, and formatting gives knowledge workers hours back each week.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23360" cy="1828800"/>
          </a:xfrm>
          <a:prstGeom prst="rect">
            <a:avLst/>
          </a:prstGeom>
          <a:solidFill>
            <a:srgbClr val="0D1A0D"/>
          </a:solidFill>
          <a:ln w="12700">
            <a:solidFill>
              <a:srgbClr val="1A7A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960120"/>
            <a:ext cx="45720" cy="18288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97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Faster Drafts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039112"/>
            <a:ext cx="3657600" cy="9144"/>
          </a:xfrm>
          <a:prstGeom prst="rect">
            <a:avLst/>
          </a:prstGeom>
          <a:solidFill>
            <a:srgbClr val="1A7A0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10312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writing assistants produce first drafts in seconds, accelerating content creation, emails, and reports significantly.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023360" cy="1828800"/>
          </a:xfrm>
          <a:prstGeom prst="rect">
            <a:avLst/>
          </a:prstGeom>
          <a:solidFill>
            <a:srgbClr val="0D1A0D"/>
          </a:solidFill>
          <a:ln w="12700">
            <a:solidFill>
              <a:srgbClr val="1A7A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71800"/>
            <a:ext cx="45720" cy="18288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108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050792"/>
            <a:ext cx="3657600" cy="9144"/>
          </a:xfrm>
          <a:prstGeom prst="rect">
            <a:avLst/>
          </a:prstGeom>
          <a:solidFill>
            <a:srgbClr val="1A7A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1480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work around the clock — no fatigue, no downtime. Businesses can serve customers and process data continuously.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971800"/>
            <a:ext cx="4023360" cy="1828800"/>
          </a:xfrm>
          <a:prstGeom prst="rect">
            <a:avLst/>
          </a:prstGeom>
          <a:solidFill>
            <a:srgbClr val="0D1A0D"/>
          </a:solidFill>
          <a:ln w="12700">
            <a:solidFill>
              <a:srgbClr val="1A7A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971800"/>
            <a:ext cx="45720" cy="18288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108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84632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4050792"/>
            <a:ext cx="3657600" cy="9144"/>
          </a:xfrm>
          <a:prstGeom prst="rect">
            <a:avLst/>
          </a:prstGeom>
          <a:solidFill>
            <a:srgbClr val="1A7A0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411480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workflows with AI can cut operational costs, reducing the need for manual labor on predictable, structured tasks.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5129784"/>
            <a:ext cx="9144000" cy="13716"/>
          </a:xfrm>
          <a:prstGeom prst="rect">
            <a:avLst/>
          </a:prstGeom>
          <a:solidFill>
            <a:srgbClr val="39FF1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20A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CONVERSATIONAL AI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 •  Text Generation &amp; Conversational AI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417320"/>
            <a:ext cx="3154680" cy="18288"/>
          </a:xfrm>
          <a:prstGeom prst="rect">
            <a:avLst/>
          </a:prstGeom>
          <a:solidFill>
            <a:srgbClr val="1A7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08760"/>
            <a:ext cx="32918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GPT-4o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FREE &amp; PRO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05740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5740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API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20440" y="0"/>
            <a:ext cx="5623560" cy="822960"/>
          </a:xfrm>
          <a:prstGeom prst="rect">
            <a:avLst/>
          </a:prstGeom>
          <a:solidFill>
            <a:srgbClr val="0D1A0D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164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USE CASES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475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 — PRODUCTIVITY PROFILE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11880" y="960120"/>
            <a:ext cx="5349240" cy="3931920"/>
          </a:xfrm>
          <a:prstGeom prst="rect">
            <a:avLst/>
          </a:prstGeom>
          <a:noFill/>
          <a:ln/>
        </p:spPr>
        <p:txBody>
          <a:bodyPr wrap="square" lIns="76200" tIns="152400" rIns="152400" bIns="0" rtlCol="0" anchor="t"/>
          <a:lstStyle/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Conversation: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Engages in nuanced, context-aware dialogue across virtually any topic — from technical analysis to creative brainstorming sessions.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&amp; Content Creation: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emails, articles, reports, proposals, and social posts with adjustable tone, style, and length to match any audience.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Summarization: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Rapidly digests long documents, research papers, or web content into concise, actionable summaries saving hours of reading time.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Generation &amp; Debugging: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Writes, explains, and debugs code across 50+ languages — a force multiplier for both developers and non-technical users.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Automation: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custom GPTs for specific workflows: customer support bots, data extractors, and internal knowledge assistants.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20440" y="4956048"/>
            <a:ext cx="5623560" cy="187452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49743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20A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REASONING AI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 •  Advanced Reasoning &amp; Document Analysis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417320"/>
            <a:ext cx="3154680" cy="18288"/>
          </a:xfrm>
          <a:prstGeom prst="rect">
            <a:avLst/>
          </a:prstGeom>
          <a:solidFill>
            <a:srgbClr val="1A7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08760"/>
            <a:ext cx="32918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SONNET 4.6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OPUS 4.6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057400" y="3657600"/>
            <a:ext cx="932688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57400" y="3657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200K CONTEXT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20440" y="0"/>
            <a:ext cx="5623560" cy="822960"/>
          </a:xfrm>
          <a:prstGeom prst="rect">
            <a:avLst/>
          </a:prstGeom>
          <a:solidFill>
            <a:srgbClr val="0D1A0D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164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USE CASES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475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— PRODUCTIVITY PROFILE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11880" y="960120"/>
            <a:ext cx="5349240" cy="3931920"/>
          </a:xfrm>
          <a:prstGeom prst="rect">
            <a:avLst/>
          </a:prstGeom>
          <a:noFill/>
          <a:ln/>
        </p:spPr>
        <p:txBody>
          <a:bodyPr wrap="square" lIns="76200" tIns="152400" rIns="152400" bIns="0" rtlCol="0" anchor="t"/>
          <a:lstStyle/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Long-Document Analysis: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up to 200,000 tokens — entire books, legal contracts, or codebases — extracting key insights with precision.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Nuanced Research &amp; Writing: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well-structured, thoroughly reasoned content ideal for whitepapers, technical documentation, and executive reports.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&amp; Reliable Outputs: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with Constitutional AI for trustworthy, honest, and harmless responses — critical for high-stakes business contexts.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Problem-Solving: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Excels at multi-step reasoning tasks: strategic analysis, scenario planning, data interpretation, and hypothesis evaluation.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&amp; API Integration: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custom enterprise applications via Anthropic API with streaming, tool use, and advanced prompt engineering support.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20440" y="4956048"/>
            <a:ext cx="5623560" cy="187452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49743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20A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IMAGE GENERATION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MidJourney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Midjourney Inc.  •  AI Art &amp; Creative Image Generation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417320"/>
            <a:ext cx="3154680" cy="18288"/>
          </a:xfrm>
          <a:prstGeom prst="rect">
            <a:avLst/>
          </a:prstGeom>
          <a:solidFill>
            <a:srgbClr val="1A7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08760"/>
            <a:ext cx="32918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V7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DISCORD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05740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5740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WEB APP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20440" y="0"/>
            <a:ext cx="5623560" cy="822960"/>
          </a:xfrm>
          <a:prstGeom prst="rect">
            <a:avLst/>
          </a:prstGeom>
          <a:solidFill>
            <a:srgbClr val="0D1A0D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164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USE CASES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475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MIDJOURNEY — PRODUCTIVITY PROFILE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11880" y="960120"/>
            <a:ext cx="5349240" cy="3931920"/>
          </a:xfrm>
          <a:prstGeom prst="rect">
            <a:avLst/>
          </a:prstGeom>
          <a:noFill/>
          <a:ln/>
        </p:spPr>
        <p:txBody>
          <a:bodyPr wrap="square" lIns="76200" tIns="152400" rIns="152400" bIns="0" rtlCol="0" anchor="t"/>
          <a:lstStyle/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Photorealistic Image Creation: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stunning, publication-ready visuals from text prompts — from product mockups to editorial illustrations in seconds.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Marketing Assets: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consistent visual branding elements, social media graphics, ad creatives, and campaign imagery at scale with no photographer needed.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Visualization: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Rapidly prototypes architectural concepts, product designs, UI mockups, and creative directions before committing to production.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Control &amp; Consistency: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style references and character reference tools ensure brand visual consistency across entire content campaigns.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Licensing: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and Mega plans include full commercial rights, enabling use in client work, merchandise, advertising, and digital publications.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20440" y="4956048"/>
            <a:ext cx="5623560" cy="187452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49743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20A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IMAGE GENERATION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DALL·E 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 •  Integrated AI Image Generation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417320"/>
            <a:ext cx="3154680" cy="18288"/>
          </a:xfrm>
          <a:prstGeom prst="rect">
            <a:avLst/>
          </a:prstGeom>
          <a:solidFill>
            <a:srgbClr val="1A7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08760"/>
            <a:ext cx="32918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3657600"/>
            <a:ext cx="932688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60" y="3657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GPT-4 NATIVE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124712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24712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API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084832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84832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HD MODE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20440" y="0"/>
            <a:ext cx="5623560" cy="822960"/>
          </a:xfrm>
          <a:prstGeom prst="rect">
            <a:avLst/>
          </a:prstGeom>
          <a:solidFill>
            <a:srgbClr val="0D1A0D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164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USE CASES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475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DALL·E 3 — PRODUCTIVITY PROFILE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11880" y="960120"/>
            <a:ext cx="5349240" cy="3931920"/>
          </a:xfrm>
          <a:prstGeom prst="rect">
            <a:avLst/>
          </a:prstGeom>
          <a:noFill/>
          <a:ln/>
        </p:spPr>
        <p:txBody>
          <a:bodyPr wrap="square" lIns="76200" tIns="152400" rIns="152400" bIns="0" rtlCol="0" anchor="t"/>
          <a:lstStyle/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to Image: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complex, detailed prompts more accurately than previous models — describing scenes, emotions, and compositions naturally.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Integration: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Seamlessly embedded in ChatGPT — generate images mid-conversation, iterate with chat commands, no separate login required.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Rendering in Images: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Uniquely capable of accurately rendering readable text within generated images — perfect for signage, posters, and infographics.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&amp; Slide Visuals: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Quickly generate custom illustrations for presentations eliminating costly stock photo subscriptions or design agency fees.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API-Powered Workflows: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into apps and pipelines via OpenAI API to automate image generation at scale for e-commerce, media, and publishing.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20440" y="4956048"/>
            <a:ext cx="5623560" cy="187452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49743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20A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DESIGN AI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Canva AI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  •  AI-Enhanced Design Platform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417320"/>
            <a:ext cx="3154680" cy="18288"/>
          </a:xfrm>
          <a:prstGeom prst="rect">
            <a:avLst/>
          </a:prstGeom>
          <a:solidFill>
            <a:srgbClr val="1A7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08760"/>
            <a:ext cx="32918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3657600"/>
            <a:ext cx="932688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60" y="3657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MAGIC STUDIO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124712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24712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FREE TIER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084832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84832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TEAMS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20440" y="0"/>
            <a:ext cx="5623560" cy="822960"/>
          </a:xfrm>
          <a:prstGeom prst="rect">
            <a:avLst/>
          </a:prstGeom>
          <a:solidFill>
            <a:srgbClr val="0D1A0D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164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USE CASES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475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 AI — PRODUCTIVITY PROFILE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11880" y="960120"/>
            <a:ext cx="5349240" cy="3931920"/>
          </a:xfrm>
          <a:prstGeom prst="rect">
            <a:avLst/>
          </a:prstGeom>
          <a:noFill/>
          <a:ln/>
        </p:spPr>
        <p:txBody>
          <a:bodyPr wrap="square" lIns="76200" tIns="152400" rIns="152400" bIns="0" rtlCol="0" anchor="t"/>
          <a:lstStyle/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Design Generation: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 prompt or upload your content and Canva AI creates fully designed templates — presentations, social posts, flyers — instantly.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Removal &amp; Editing: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background removal, AI image expansion, and object eraser tools eliminate hours of manual photo editing work.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Kit Automation: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applies your brand colors, fonts, and logos automatically across hundreds of design variations maintaining visual consistency.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Text-to-Image Generation: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custom illustrations and photos directly in the editor without leaving your design workflow or sourcing stock images.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Presentation Builder: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presentation topic and AI creates a full multi-slide deck with layout, content, and visuals — ready in under 60 seconds.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20440" y="4956048"/>
            <a:ext cx="5623560" cy="187452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49743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20A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CODING AI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Copilot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/ Microsoft  •  AI-Powered Code Completion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417320"/>
            <a:ext cx="3154680" cy="18288"/>
          </a:xfrm>
          <a:prstGeom prst="rect">
            <a:avLst/>
          </a:prstGeom>
          <a:solidFill>
            <a:srgbClr val="1A7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08760"/>
            <a:ext cx="32918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VS CODE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JET BRAINS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05740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5740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GPT-4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20440" y="0"/>
            <a:ext cx="5623560" cy="822960"/>
          </a:xfrm>
          <a:prstGeom prst="rect">
            <a:avLst/>
          </a:prstGeom>
          <a:solidFill>
            <a:srgbClr val="0D1A0D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164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USE CASES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475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COPILOT — PRODUCTIVITY PROFILE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11880" y="960120"/>
            <a:ext cx="5349240" cy="3931920"/>
          </a:xfrm>
          <a:prstGeom prst="rect">
            <a:avLst/>
          </a:prstGeom>
          <a:noFill/>
          <a:ln/>
        </p:spPr>
        <p:txBody>
          <a:bodyPr wrap="square" lIns="76200" tIns="152400" rIns="152400" bIns="0" rtlCol="0" anchor="t"/>
          <a:lstStyle/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Code Suggestions: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entire functions, classes, and logic blocks as you type — trained on billions of lines of public code across all major languages.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to Code: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comment describing what you need and Copilot generates the implementation — dramatically accelerating feature development.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Detection &amp; Fix Suggestions: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potential errors, security vulnerabilities, and logic flaws in real time, offering corrected alternatives before they reach production.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Generation: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generates unit tests, edge cases, and documentation for existing functions, improving code coverage with minimal effort.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for Code Explanation: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Copilot Chat to explain complex code blocks, suggest refactors, or walk through architecture decisions in plain language.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20440" y="4956048"/>
            <a:ext cx="5623560" cy="187452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49743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20A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MARKETING AI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Jasper AI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Jasper  •  Marketing Copy &amp; Content Generation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417320"/>
            <a:ext cx="3154680" cy="18288"/>
          </a:xfrm>
          <a:prstGeom prst="rect">
            <a:avLst/>
          </a:prstGeom>
          <a:solidFill>
            <a:srgbClr val="1A7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08760"/>
            <a:ext cx="32918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SEO TOOLS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BRAND VOICE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05740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5740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TEAMS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20440" y="0"/>
            <a:ext cx="5623560" cy="822960"/>
          </a:xfrm>
          <a:prstGeom prst="rect">
            <a:avLst/>
          </a:prstGeom>
          <a:solidFill>
            <a:srgbClr val="0D1A0D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164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USE CASES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475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JASPER AI — PRODUCTIVITY PROFILE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11880" y="960120"/>
            <a:ext cx="5349240" cy="3931920"/>
          </a:xfrm>
          <a:prstGeom prst="rect">
            <a:avLst/>
          </a:prstGeom>
          <a:noFill/>
          <a:ln/>
        </p:spPr>
        <p:txBody>
          <a:bodyPr wrap="square" lIns="76200" tIns="152400" rIns="152400" bIns="0" rtlCol="0" anchor="t"/>
          <a:lstStyle/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Copy at Scale: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high-converting ad copy, product descriptions, email sequences, and landing page content tuned to your brand voice.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Content Optimization: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with Surfer SEO to produce search-optimized blog posts and articles that rank higher while maintaining readability.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Brief to Content: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 marketing brief and Jasper outputs an entire content suite — social posts, email series, blog articles — in one workflow.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 Consistency: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your company's tone, terminology, and style guidelines to ensure every AI-generated piece sounds authentically on-brand.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Content: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marketing content in 30+ languages, enabling global campaigns without the cost and time of traditional translation services.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20440" y="4956048"/>
            <a:ext cx="5623560" cy="187452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49743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20A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VIDEO AI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Synthesia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Synthesia  •  AI Video Generation with Avatars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417320"/>
            <a:ext cx="3154680" cy="18288"/>
          </a:xfrm>
          <a:prstGeom prst="rect">
            <a:avLst/>
          </a:prstGeom>
          <a:solidFill>
            <a:srgbClr val="1A7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08760"/>
            <a:ext cx="32918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3657600"/>
            <a:ext cx="932688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60" y="3657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160+ AVATARS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124712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24712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120 LANGS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084832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84832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NO CAMERA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20440" y="0"/>
            <a:ext cx="5623560" cy="822960"/>
          </a:xfrm>
          <a:prstGeom prst="rect">
            <a:avLst/>
          </a:prstGeom>
          <a:solidFill>
            <a:srgbClr val="0D1A0D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164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USE CASES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475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SYNTHESIA — PRODUCTIVITY PROFILE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11880" y="960120"/>
            <a:ext cx="5349240" cy="3931920"/>
          </a:xfrm>
          <a:prstGeom prst="rect">
            <a:avLst/>
          </a:prstGeom>
          <a:noFill/>
          <a:ln/>
        </p:spPr>
        <p:txBody>
          <a:bodyPr wrap="square" lIns="76200" tIns="152400" rIns="152400" bIns="0" rtlCol="0" anchor="t"/>
          <a:lstStyle/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Text-to-Video Production: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scripts into professional videos with AI avatars in minutes — no camera, studio, actors, or video editing skills required.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Training Videos: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employee onboarding and training content at massive scale — update once and regenerate instantly instead of reshootng.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Video Localization: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the same video in 120+ languages with lip-synced AI avatars, eliminating dubbing costs and production delays.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Avatar Creation: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digital version of real presenters for consistent, scalable video content that maintains personal brand authenticity.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Communication: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updates, product launches, and internal communications delivered as polished video — more engaging than text emails.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20440" y="4956048"/>
            <a:ext cx="5623560" cy="187452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49743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20A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VIDEO AI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Runway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Runway AI  •  AI Video Editing &amp; Creative Generation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417320"/>
            <a:ext cx="3154680" cy="18288"/>
          </a:xfrm>
          <a:prstGeom prst="rect">
            <a:avLst/>
          </a:prstGeom>
          <a:solidFill>
            <a:srgbClr val="1A7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08760"/>
            <a:ext cx="32918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GEN-3 ALPHA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4K OUTPUT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05740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5740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PRO TOOLS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20440" y="0"/>
            <a:ext cx="5623560" cy="822960"/>
          </a:xfrm>
          <a:prstGeom prst="rect">
            <a:avLst/>
          </a:prstGeom>
          <a:solidFill>
            <a:srgbClr val="0D1A0D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164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USE CASES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475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RUNWAY — PRODUCTIVITY PROFILE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11880" y="960120"/>
            <a:ext cx="5349240" cy="3931920"/>
          </a:xfrm>
          <a:prstGeom prst="rect">
            <a:avLst/>
          </a:prstGeom>
          <a:noFill/>
          <a:ln/>
        </p:spPr>
        <p:txBody>
          <a:bodyPr wrap="square" lIns="76200" tIns="152400" rIns="152400" bIns="0" rtlCol="0" anchor="t"/>
          <a:lstStyle/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&amp; Image to Video: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cinematic video clips from text prompts or still images — enabling filmmakers, marketers, and creators to visualize ideas instantly.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Video Editing Suite: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backgrounds, track objects, apply motion blur, and colorgrade footage using AI tools that previously required professional studios.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Brush Control: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 motion onto specific image regions — animate only a character, only the background, or specific objects with surgical precision.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Inpainting &amp; Outpainting: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unwanted objects from video, extend frames beyond original boundaries, or replace video elements without re-shooting content.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Workflow: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with Adobe Premiere, After Effects, and other industry tools — AI-enhanced layers within professional production pipelines.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20440" y="4956048"/>
            <a:ext cx="5623560" cy="187452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49743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20A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PRODUCTIVITY AI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Notion AI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  •  AI-Powered Note-Taking &amp; Knowledge Management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417320"/>
            <a:ext cx="3154680" cy="18288"/>
          </a:xfrm>
          <a:prstGeom prst="rect">
            <a:avLst/>
          </a:prstGeom>
          <a:solidFill>
            <a:srgbClr val="1A7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08760"/>
            <a:ext cx="32918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3657600"/>
            <a:ext cx="932688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60" y="3657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WORKSPACE AI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124712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24712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Q&amp;A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084832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84832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DATABASES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20440" y="0"/>
            <a:ext cx="5623560" cy="822960"/>
          </a:xfrm>
          <a:prstGeom prst="rect">
            <a:avLst/>
          </a:prstGeom>
          <a:solidFill>
            <a:srgbClr val="0D1A0D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164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USE CASES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475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 AI — PRODUCTIVITY PROFILE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11880" y="960120"/>
            <a:ext cx="5349240" cy="3931920"/>
          </a:xfrm>
          <a:prstGeom prst="rect">
            <a:avLst/>
          </a:prstGeom>
          <a:noFill/>
          <a:ln/>
        </p:spPr>
        <p:txBody>
          <a:bodyPr wrap="square" lIns="76200" tIns="152400" rIns="152400" bIns="0" rtlCol="0" anchor="t"/>
          <a:lstStyle/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Notes Automation: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raw meeting transcripts and Notion AI extracts summaries, action items, decisions, and follow-up tasks automatically.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Q&amp;A on Your Workspace: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across your entire Notion workspace — find information, surface relevant docs, and query databases in natural language.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Generation: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project briefs, PRDs, OKR frameworks, and structured documents from simple outlines — maintaining company templates.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Improvement: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grammar, adjust tone, translate content, and expand or condense documents to match different audiences or communication needs.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Intelligence: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surfaces patterns in your project databases, identifies blockers across tasks, and summarizes status across complex multi-team projects.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20440" y="4956048"/>
            <a:ext cx="5623560" cy="187452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49743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20A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WRITING AI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Grammarly AI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Grammarly  •  AI Writing &amp; Editing Assistant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417320"/>
            <a:ext cx="3154680" cy="18288"/>
          </a:xfrm>
          <a:prstGeom prst="rect">
            <a:avLst/>
          </a:prstGeom>
          <a:solidFill>
            <a:srgbClr val="1A7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08760"/>
            <a:ext cx="32918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EVERYWHERE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ENTERPRISE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05740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5740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TONE DETECT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20440" y="0"/>
            <a:ext cx="5623560" cy="822960"/>
          </a:xfrm>
          <a:prstGeom prst="rect">
            <a:avLst/>
          </a:prstGeom>
          <a:solidFill>
            <a:srgbClr val="0D1A0D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164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USE CASES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475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GRAMMARLY AI — PRODUCTIVITY PROFILE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11880" y="960120"/>
            <a:ext cx="5349240" cy="3931920"/>
          </a:xfrm>
          <a:prstGeom prst="rect">
            <a:avLst/>
          </a:prstGeom>
          <a:noFill/>
          <a:ln/>
        </p:spPr>
        <p:txBody>
          <a:bodyPr wrap="square" lIns="76200" tIns="152400" rIns="152400" bIns="0" rtlCol="0" anchor="t"/>
          <a:lstStyle/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Writing Assistance: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grammar, spelling, punctuation, and sentence structure across every platform — emails, docs, Slack, LinkedIn, and browsers.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&amp; Clarity Analysis: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the emotional tone of your writing and suggests adjustments to ensure messages land as intended — confident, diplomatic, or friendly.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Rewrites: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rewrites entire paragraphs or emails at a higher quality level — preserving meaning while dramatically improving impact.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Plagiarism Detection: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Cross-references billions of web pages to identify unintentional plagiarism in academic, professional, and content publishing contexts.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Style Guides: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plans enforce company-wide writing standards — consistent terminology, tone, and formatting across all team communications.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20440" y="4956048"/>
            <a:ext cx="5623560" cy="187452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49743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20A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VOICE AI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Murf AI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Murf  •  AI Voice-Over &amp; Audio Generation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417320"/>
            <a:ext cx="3154680" cy="18288"/>
          </a:xfrm>
          <a:prstGeom prst="rect">
            <a:avLst/>
          </a:prstGeom>
          <a:solidFill>
            <a:srgbClr val="1A7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08760"/>
            <a:ext cx="32918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120+ VOICES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9728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20 LANGS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057400" y="3657600"/>
            <a:ext cx="932688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57400" y="3657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STUDIO TOOLS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20440" y="0"/>
            <a:ext cx="5623560" cy="822960"/>
          </a:xfrm>
          <a:prstGeom prst="rect">
            <a:avLst/>
          </a:prstGeom>
          <a:solidFill>
            <a:srgbClr val="0D1A0D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164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USE CASES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475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MURF AI — PRODUCTIVITY PROFILE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11880" y="960120"/>
            <a:ext cx="5349240" cy="3931920"/>
          </a:xfrm>
          <a:prstGeom prst="rect">
            <a:avLst/>
          </a:prstGeom>
          <a:noFill/>
          <a:ln/>
        </p:spPr>
        <p:txBody>
          <a:bodyPr wrap="square" lIns="76200" tIns="152400" rIns="152400" bIns="0" rtlCol="0" anchor="t"/>
          <a:lstStyle/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Voice Synthesis: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text to studio-quality voice-overs indistinguishable from professional narrators — available in 120+ voices across 20 languages.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eLearning &amp; Training Content: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narrated training modules, explainer videos, and educational content at a fraction of traditional voice recording studio costs.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Customization: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pitch, speed, emphasis, and pauses to create the perfect narration tone — from energetic marketing to calm instructional content.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&amp; Video Sync: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PowerPoint or video files and sync AI voice-overs directly to timelines, automating the narration layer of presentations.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&amp; Media Production: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Script-to-audio workflows for podcast production, audiobooks, and branded audio content without booking expensive recording studios.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20440" y="4956048"/>
            <a:ext cx="5623560" cy="187452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49743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20A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MEDIA AI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Descript AI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  •  AI Video &amp; Podcast Editing Platform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417320"/>
            <a:ext cx="3154680" cy="18288"/>
          </a:xfrm>
          <a:prstGeom prst="rect">
            <a:avLst/>
          </a:prstGeom>
          <a:solidFill>
            <a:srgbClr val="1A7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08760"/>
            <a:ext cx="32918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6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OVERDUB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097280" y="3657600"/>
            <a:ext cx="1088136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97280" y="365760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EYE CONTACT AI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249424" y="3657600"/>
            <a:ext cx="1010412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249424" y="3657600"/>
            <a:ext cx="1010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TRANSCRIPTION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20440" y="0"/>
            <a:ext cx="5623560" cy="822960"/>
          </a:xfrm>
          <a:prstGeom prst="rect">
            <a:avLst/>
          </a:prstGeom>
          <a:solidFill>
            <a:srgbClr val="0D1A0D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164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USE CASES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475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 AI — PRODUCTIVITY PROFILE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11880" y="960120"/>
            <a:ext cx="5349240" cy="3931920"/>
          </a:xfrm>
          <a:prstGeom prst="rect">
            <a:avLst/>
          </a:prstGeom>
          <a:noFill/>
          <a:ln/>
        </p:spPr>
        <p:txBody>
          <a:bodyPr wrap="square" lIns="76200" tIns="152400" rIns="152400" bIns="0" rtlCol="0" anchor="t"/>
          <a:lstStyle/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Video Like a Document: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 transcribes video then lets you edit footage by editing the text transcript — delete a sentence, the video clip disappears instantly.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Voice Cloning (Overdub):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voice clone to fix mispronounced words or add new narration without re-recording — paste text to patch audio seamlessly.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Filler Word Removal: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detects and removes all 'um,' 'uh,' and 'like' filler words from recordings in one click — no manual audio scrubbing required.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Contact Correction: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algorithmically adjusts gaze to appear direct camera eye contact even when the speaker was looking at their script or screen.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Sound Enhancement: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noise removal and audio normalization transforms recordings made in home offices into broadcast-quality productions instantly.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20440" y="4956048"/>
            <a:ext cx="5623560" cy="187452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49743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20A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PRESENTATION AI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Tome AI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Tome  •  AI Storytelling &amp; Presentation Generation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417320"/>
            <a:ext cx="3154680" cy="18288"/>
          </a:xfrm>
          <a:prstGeom prst="rect">
            <a:avLst/>
          </a:prstGeom>
          <a:solidFill>
            <a:srgbClr val="1A7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08760"/>
            <a:ext cx="32918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3657600"/>
            <a:ext cx="932688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60" y="3657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AI NARRATIVE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124712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24712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WEB NATIVE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084832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84832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LIVE DATA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20440" y="0"/>
            <a:ext cx="5623560" cy="822960"/>
          </a:xfrm>
          <a:prstGeom prst="rect">
            <a:avLst/>
          </a:prstGeom>
          <a:solidFill>
            <a:srgbClr val="0D1A0D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164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USE CASES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475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TOME AI — PRODUCTIVITY PROFILE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11880" y="960120"/>
            <a:ext cx="5349240" cy="3931920"/>
          </a:xfrm>
          <a:prstGeom prst="rect">
            <a:avLst/>
          </a:prstGeom>
          <a:noFill/>
          <a:ln/>
        </p:spPr>
        <p:txBody>
          <a:bodyPr wrap="square" lIns="76200" tIns="152400" rIns="152400" bIns="0" rtlCol="0" anchor="t"/>
          <a:lstStyle/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Prompt-to-Presentation: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topic and Tome generates a complete narrative presentation with structure, slides, visuals, and copy — ready in under 2 minutes.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Storytelling Structure: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builds a coherent narrative arc across slides, not just content blocks — ensuring logical flow, tension, and clear calls-to-action.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Embedding: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Figma files, live web content, and data sources that update in real time — presentations that stay current without manual updates.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Image Generation Built-In: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custom illustrations for each slide contextually — no sourcing stock images or waiting on designers for visual assets.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Web Delivery: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Presentations are web-native and responsive — shareable via link, embeddable anywhere, and viewable perfectly on any device.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20440" y="4956048"/>
            <a:ext cx="5623560" cy="187452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49743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20A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DESIGN AI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Reimagine Home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REimagine Home  •  AI Interior Design Visualization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417320"/>
            <a:ext cx="3154680" cy="18288"/>
          </a:xfrm>
          <a:prstGeom prst="rect">
            <a:avLst/>
          </a:prstGeom>
          <a:solidFill>
            <a:srgbClr val="1A7A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08760"/>
            <a:ext cx="3291840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3657600"/>
            <a:ext cx="932688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60" y="365760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PHOTO UPLOAD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124712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24712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30+ STYLES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084832" y="3657600"/>
            <a:ext cx="914400" cy="256032"/>
          </a:xfrm>
          <a:prstGeom prst="rect">
            <a:avLst/>
          </a:prstGeom>
          <a:solidFill>
            <a:srgbClr val="1A261A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84832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FF14"/>
                </a:solidFill>
              </a:rPr>
              <a:t>INSTANT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520440" y="0"/>
            <a:ext cx="5623560" cy="822960"/>
          </a:xfrm>
          <a:prstGeom prst="rect">
            <a:avLst/>
          </a:prstGeom>
          <a:solidFill>
            <a:srgbClr val="0D1A0D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0" y="1645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USE CASES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475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REIMAGINE HOME — PRODUCTIVITY PROFILE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11880" y="960120"/>
            <a:ext cx="5349240" cy="3931920"/>
          </a:xfrm>
          <a:prstGeom prst="rect">
            <a:avLst/>
          </a:prstGeom>
          <a:noFill/>
          <a:ln/>
        </p:spPr>
        <p:txBody>
          <a:bodyPr wrap="square" lIns="76200" tIns="152400" rIns="152400" bIns="0" rtlCol="0" anchor="t"/>
          <a:lstStyle/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Room Redesign: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photo of any room and AI reimagines it in 30+ interior design styles — Scandinavian, Industrial, Japandi, and more — in seconds.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Virtual Staging: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empty properties virtually for listings at a fraction of physical staging costs, dramatically increasing buyer engagement and offer speed.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Renovation Pre-Visualization: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exactly how different furniture, colors, flooring, and layouts will look before purchasing a single item or starting any physical work.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&amp; Color Exploration: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paint colors, floor materials, countertops, and fixtures across generated images to compare options side by side instantly.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Presentation Tool:  </a:t>
            </a:r>
            <a:pPr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B8C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designers use AI-generated renders to pitch concepts to clients, reducing the design iteration cycle from weeks to hours.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20440" y="4956048"/>
            <a:ext cx="5623560" cy="187452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497433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AI-POWERED FUTURE OF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0" y="932688"/>
            <a:ext cx="5486400" cy="27432"/>
          </a:xfrm>
          <a:prstGeom prst="rect">
            <a:avLst/>
          </a:prstGeom>
          <a:solidFill>
            <a:srgbClr val="1A7A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F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8229600" cy="685800"/>
          </a:xfrm>
          <a:prstGeom prst="rect">
            <a:avLst/>
          </a:prstGeom>
          <a:solidFill>
            <a:srgbClr val="0D1A0D"/>
          </a:solidFill>
          <a:ln w="12700">
            <a:solidFill>
              <a:srgbClr val="1A7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27432" cy="457200"/>
          </a:xfrm>
          <a:prstGeom prst="rect">
            <a:avLst/>
          </a:prstGeom>
          <a:solidFill>
            <a:srgbClr val="1A7A0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2763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a replacement — it's an amplifier. The most productive professionals in 2026 use AI to handle the routine so they can focus on the irreplaceable.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8229600" cy="685800"/>
          </a:xfrm>
          <a:prstGeom prst="rect">
            <a:avLst/>
          </a:prstGeom>
          <a:solidFill>
            <a:srgbClr val="0D1A0D"/>
          </a:solidFill>
          <a:ln w="12700">
            <a:solidFill>
              <a:srgbClr val="1A7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234440" y="2423160"/>
            <a:ext cx="27432" cy="457200"/>
          </a:xfrm>
          <a:prstGeom prst="rect">
            <a:avLst/>
          </a:prstGeom>
          <a:solidFill>
            <a:srgbClr val="1A7A00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4048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matters. Each AI tool excels in a domain — use the right tool for the right task rather than relying on one solution for everything.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90672"/>
            <a:ext cx="8229600" cy="685800"/>
          </a:xfrm>
          <a:prstGeom prst="rect">
            <a:avLst/>
          </a:prstGeom>
          <a:solidFill>
            <a:srgbClr val="0D1A0D"/>
          </a:solidFill>
          <a:ln w="12700">
            <a:solidFill>
              <a:srgbClr val="1A7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234440" y="3200400"/>
            <a:ext cx="27432" cy="457200"/>
          </a:xfrm>
          <a:prstGeom prst="rect">
            <a:avLst/>
          </a:prstGeom>
          <a:solidFill>
            <a:srgbClr val="1A7A00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18211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effect is real. Combining AI tools in a workflow stack (writing + design + video + analytics) creates productivity gains that multiply, not add.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67912"/>
            <a:ext cx="8229600" cy="685800"/>
          </a:xfrm>
          <a:prstGeom prst="rect">
            <a:avLst/>
          </a:prstGeom>
          <a:solidFill>
            <a:srgbClr val="0D1A0D"/>
          </a:solidFill>
          <a:ln w="12700">
            <a:solidFill>
              <a:srgbClr val="1A7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234440" y="3977640"/>
            <a:ext cx="27432" cy="457200"/>
          </a:xfrm>
          <a:prstGeom prst="rect">
            <a:avLst/>
          </a:prstGeom>
          <a:solidFill>
            <a:srgbClr val="1A7A00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9593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scale fast. Begin with one AI tool that addresses your biggest time drain. Master it, measure the gains, then expand to adjacent workflows.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1A261A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OPTIMIZING WORK WITH AI  •  2026  •  THE FUTURE IS NOW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5129784"/>
            <a:ext cx="9144000" cy="13716"/>
          </a:xfrm>
          <a:prstGeom prst="rect">
            <a:avLst/>
          </a:prstGeom>
          <a:solidFill>
            <a:srgbClr val="39FF1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Work with AI</dc:title>
  <dc:subject>PptxGenJS Presentation</dc:subject>
  <dc:creator>AI Productivity Guide 2026</dc:creator>
  <cp:lastModifiedBy>AI Productivity Guide 2026</cp:lastModifiedBy>
  <cp:revision>1</cp:revision>
  <dcterms:created xsi:type="dcterms:W3CDTF">2026-03-20T20:43:33Z</dcterms:created>
  <dcterms:modified xsi:type="dcterms:W3CDTF">2026-03-20T20:43:33Z</dcterms:modified>
</cp:coreProperties>
</file>